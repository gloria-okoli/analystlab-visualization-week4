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A84C"/>
    <a:srgbClr val="0A1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2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F0002-8F4C-BA5D-83A7-9821260B9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F6B5E7-2F18-B43F-43DC-591AD7AC8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D4B9B-13B5-56DF-3BFC-C934C0024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E2640-EB83-4B87-81BE-FE96BD2ACCD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9DE87-0BB1-B951-FF3C-D766E8A83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F15AC-EECE-4D4C-5828-1A151F90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9C3E-A7FC-48D8-958C-9169FD97D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38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8C803-43B2-E3D6-943C-9DA07AB1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9A896-DE1E-8913-623C-1C00C4152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E9113-8B0D-C269-5005-3A64DE0B4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E2640-EB83-4B87-81BE-FE96BD2ACCD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7DEB4-376D-DC99-943B-470005BF2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8B365-0889-997A-5A59-2C92682BD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9C3E-A7FC-48D8-958C-9169FD97D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589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81BF8-6890-341E-A03D-BB67AF0A7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28AEE-3F20-8130-86B6-4D4974964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5D769-2E2A-8D2E-AEFE-45F82F540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E2640-EB83-4B87-81BE-FE96BD2ACCD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BE6A6-D305-4BD7-EC0B-3A81FF077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159EC-887E-8FCC-5AED-E58A6624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9C3E-A7FC-48D8-958C-9169FD97D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259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22450-37B8-404D-B5AB-5AA366D61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C472A-6698-0BCE-A753-BD02E589F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8B75F9-2BEB-9E6B-52C7-709F07B9EF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66883-9E89-A505-6F27-B070BD887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E2640-EB83-4B87-81BE-FE96BD2ACCD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0B7FD-3E7C-A2CE-6EA1-D4F1B66E6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C3823-A44F-7682-95E7-382312C34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9C3E-A7FC-48D8-958C-9169FD97D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323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D6D1D-5FC6-310A-781E-D9F220B1A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194CD-7245-2A4A-8B8B-48FA8C107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1DB30-4D93-3A85-D076-1FD218C0A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6A65DE-F9E6-A9D5-2D3D-D578FAED1F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4FF36-0105-0C57-1D18-B40E29830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6ED5D5-3B35-2489-EBA9-D46D07EE2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E2640-EB83-4B87-81BE-FE96BD2ACCD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5110F5-1C84-5F50-B6CA-17D02B7DE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B9EC01-B5CD-4BE1-919E-E09C9E574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9C3E-A7FC-48D8-958C-9169FD97D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75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7026-6F02-6804-560E-E86D74F72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63FBDD-3E0B-6CAD-2AB9-F7AB6E9C1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E2640-EB83-4B87-81BE-FE96BD2ACCD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707B2-50B8-3BBE-180A-E953D0881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28D689-824F-C0F0-50A5-3C943D85D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9C3E-A7FC-48D8-958C-9169FD97D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815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5D23DD-90E8-5B00-D44C-6901CC491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E2640-EB83-4B87-81BE-FE96BD2ACCD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0C86B0-F3C8-D707-D227-21EED7892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ECF8B-D2F7-F968-543E-90DACC23E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9C3E-A7FC-48D8-958C-9169FD97D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52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3D201-D6D6-C276-7F11-9419C12B9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EED84-AFF0-C440-ABF2-4556827B1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6CE4D2-2A2F-2A88-7091-87EFF236EB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E9E8E-E26F-6111-1AFA-AC2C1D711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E2640-EB83-4B87-81BE-FE96BD2ACCD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259AD-2CC3-E26C-93DD-1DD322DAD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18B72-93A0-E6EC-ABD9-519392F9E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9C3E-A7FC-48D8-958C-9169FD97D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37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68075-6EA1-C6D0-BBE7-68A030DB9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2D3C22-83CF-518B-1CD7-E2CDAE4E58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CE84C1-E2A7-B00B-E8EF-D55887CE0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678D7-0F3B-B673-3CFD-43ED51A38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E2640-EB83-4B87-81BE-FE96BD2ACCD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3AC19-8573-C5C6-D6F9-9E0201C84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C14D6-6E6F-9F51-DA5B-20C5A506B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9C3E-A7FC-48D8-958C-9169FD97D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639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33E62-CAD7-FE69-CDC8-84C6CAC4E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3F181-9960-45FC-C80B-BBC193239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801D7-88BC-D04B-31D0-7CE9563C6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E2640-EB83-4B87-81BE-FE96BD2ACCD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9297A-B2CF-BDEF-3F4F-98C1C5480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AC7E8-5E10-33C9-757B-A434CF14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9C3E-A7FC-48D8-958C-9169FD97D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58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10C42-0852-8B5E-7D18-50EC190609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9F2C4B-78A3-FB71-FE33-5495EAF16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1A32F-3FE7-8A6B-58AD-1A9618CC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E2640-EB83-4B87-81BE-FE96BD2ACCD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1E4A8-8B07-BCE9-B8E3-9ABE476DA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74D57-AECB-E1CA-82A3-1D1AC4950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B9C3E-A7FC-48D8-958C-9169FD97D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754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D60913-D577-FEEF-3595-7DBC79D7F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191E6-22C4-81AD-494D-1569BA2CA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97567-941D-42E3-6364-3995826D31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AE2640-EB83-4B87-81BE-FE96BD2ACCD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5155B-AC81-6722-F27E-8DC43724F3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9ED88-18EE-D4E9-0947-9C9E092C4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2B9C3E-A7FC-48D8-958C-9169FD97D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387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AAA4F-6B59-131A-4D50-F0E25211D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4833"/>
            <a:ext cx="9144000" cy="1978702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Superstore Sales Performance Dashboard</a:t>
            </a:r>
            <a:br>
              <a:rPr lang="en-US" sz="3600" b="1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solidFill>
                <a:srgbClr val="C9A8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C37A1A-0447-5840-7326-9AB890D60E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233534"/>
            <a:ext cx="9688643" cy="287811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&amp; Business Insights | AnalystLab Africa — Week 4</a:t>
            </a:r>
          </a:p>
          <a:p>
            <a:r>
              <a:rPr lang="en-US" sz="2800" b="1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Gloria Okoli</a:t>
            </a:r>
          </a:p>
          <a:p>
            <a:r>
              <a:rPr lang="en-US" sz="2800" b="1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June 2026</a:t>
            </a:r>
            <a:endParaRPr lang="en-US" sz="2800" b="1" dirty="0">
              <a:solidFill>
                <a:srgbClr val="C9A8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108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7AA54-4EA6-14CC-C59A-81317B2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4CADE-C38A-C642-73C7-53236832C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Kaggle Superstore Sales Dataset</a:t>
            </a:r>
          </a:p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9,994 rows | 21 columns | 4 years of data (2014–2017)</a:t>
            </a:r>
          </a:p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Coverage: United States retail sales across 3 categories, 4 regions, 3 customer segments</a:t>
            </a:r>
          </a:p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fields: Order Date, Sales, Profit, Category, Region, Segment, Product Name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670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E4FDB-D0EF-0A06-D5CB-21CBC4ECD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9A80C-CD13-1B8A-C671-D3E9D0CF1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Superstore needs to understand what is driving sales and profit across its regions and product categories</a:t>
            </a:r>
          </a:p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questions: </a:t>
            </a:r>
          </a:p>
          <a:p>
            <a:pPr lvl="1"/>
            <a:r>
              <a:rPr lang="en-US" sz="2800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regions and categories are most profitable?</a:t>
            </a:r>
          </a:p>
          <a:p>
            <a:pPr lvl="1"/>
            <a:r>
              <a:rPr lang="en-US" sz="2800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products are top performers?</a:t>
            </a:r>
          </a:p>
          <a:p>
            <a:pPr lvl="1"/>
            <a:r>
              <a:rPr lang="en-US" sz="2800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do sales peak during the year?</a:t>
            </a:r>
          </a:p>
          <a:p>
            <a:pPr lvl="1"/>
            <a:r>
              <a:rPr lang="en-US" sz="2800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segments drive the most revenue?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802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DD172-32B3-7635-581F-1EAB4117C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EB611-64DA-5D7C-F96C-01F77D31A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💰 Total Sales — $2.30M in revenue across 4 years </a:t>
            </a:r>
          </a:p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📈 Total Profit — $286.40K overall profit generated </a:t>
            </a:r>
          </a:p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🛒 Total Orders — 9,994 orders processed </a:t>
            </a:r>
          </a:p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📊 Profit Margin — 12.47% average margin </a:t>
            </a:r>
          </a:p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🏆 Top Region — West region leads in sales </a:t>
            </a:r>
          </a:p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🥇 Top Category — Technology at 36.4% of sales</a:t>
            </a:r>
          </a:p>
        </p:txBody>
      </p:sp>
    </p:spTree>
    <p:extLst>
      <p:ext uri="{BB962C8B-B14F-4D97-AF65-F5344CB8AC3E}">
        <p14:creationId xmlns:p14="http://schemas.microsoft.com/office/powerpoint/2010/main" val="429903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3AE3-00B5-EAB3-CCFE-B1BD2358F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893"/>
            <a:ext cx="10515600" cy="1124261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</a:t>
            </a:r>
            <a:br>
              <a:rPr lang="en-US" sz="4800" b="1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in Microsoft Power BI | Interactive slicers by Region &amp; Segment</a:t>
            </a:r>
            <a:endParaRPr lang="en-US" sz="2400" b="1" dirty="0">
              <a:solidFill>
                <a:srgbClr val="C9A84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649407-EAC3-3122-1A49-60E9F311FF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54045"/>
            <a:ext cx="10756692" cy="523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55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066EB-06DC-1FD6-792A-515C59E4F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CADAB-3462-8109-91F7-CB4B3FE54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West region generates the highest sales at $500K </a:t>
            </a:r>
          </a:p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is the most profitable category </a:t>
            </a:r>
          </a:p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peak sharply in November–December each year </a:t>
            </a:r>
          </a:p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Canon </a:t>
            </a:r>
            <a:r>
              <a:rPr lang="en-US" dirty="0" err="1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imageCLASS</a:t>
            </a:r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the single best-selling product </a:t>
            </a:r>
          </a:p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Furniture has the lowest profit margin despite decent sales</a:t>
            </a:r>
          </a:p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Consumer segment drives the majority of orders</a:t>
            </a:r>
          </a:p>
        </p:txBody>
      </p:sp>
    </p:spTree>
    <p:extLst>
      <p:ext uri="{BB962C8B-B14F-4D97-AF65-F5344CB8AC3E}">
        <p14:creationId xmlns:p14="http://schemas.microsoft.com/office/powerpoint/2010/main" val="2291831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0A679-2ADF-457D-85CF-5938073A5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BFA39-F444-C0C1-46C0-BA6CE0B01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 more in the West region — it consistently outperforms all others </a:t>
            </a:r>
          </a:p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 Technology product lines — highest sales and profit margin </a:t>
            </a:r>
          </a:p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Launch targeted promotions in Q4 (October–December) to maximize peak season revenue </a:t>
            </a:r>
          </a:p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Furniture pricing strategy — sales volume is decent but profit margin is too low </a:t>
            </a:r>
          </a:p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Corporate and Home Office segments — Consumer segment is saturated </a:t>
            </a:r>
          </a:p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Bundle slow-moving Office Supplies with top Technology products to boost cross-sales</a:t>
            </a:r>
          </a:p>
        </p:txBody>
      </p:sp>
    </p:spTree>
    <p:extLst>
      <p:ext uri="{BB962C8B-B14F-4D97-AF65-F5344CB8AC3E}">
        <p14:creationId xmlns:p14="http://schemas.microsoft.com/office/powerpoint/2010/main" val="1785125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2BB34-BC00-E062-D883-4E01DE2E0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528" y="149903"/>
            <a:ext cx="10634272" cy="103432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E4B01-2AA5-2AF1-E96B-9E5DE83DF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528" y="1184223"/>
            <a:ext cx="10752944" cy="5306518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transforms 9,994 rows of raw retail data into clear, actionable business intelligence </a:t>
            </a:r>
          </a:p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enabled interactive exploration of sales trends, regional performance and product profitability </a:t>
            </a:r>
          </a:p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takeaway: The West region and Technology category are the primary growth drivers for the Superstore </a:t>
            </a:r>
          </a:p>
          <a:p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 making is essential for sustainable retail performance </a:t>
            </a:r>
          </a:p>
          <a:p>
            <a:r>
              <a:rPr lang="en-US" b="1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 used:</a:t>
            </a:r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Microsoft Power BI </a:t>
            </a:r>
          </a:p>
          <a:p>
            <a:r>
              <a:rPr lang="en-US" b="1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Kaggle Superstore Sales Dataset</a:t>
            </a:r>
          </a:p>
          <a:p>
            <a:r>
              <a:rPr lang="en-US" b="1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  <a:r>
              <a:rPr lang="en-US" dirty="0">
                <a:solidFill>
                  <a:srgbClr val="C9A84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Gloria Okoli | AnalystLab Africa — Week 4 | June 2026</a:t>
            </a:r>
          </a:p>
        </p:txBody>
      </p:sp>
    </p:spTree>
    <p:extLst>
      <p:ext uri="{BB962C8B-B14F-4D97-AF65-F5344CB8AC3E}">
        <p14:creationId xmlns:p14="http://schemas.microsoft.com/office/powerpoint/2010/main" val="1257207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404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Superstore Sales Performance Dashboard </vt:lpstr>
      <vt:lpstr>Dataset Overview</vt:lpstr>
      <vt:lpstr>Business Problem</vt:lpstr>
      <vt:lpstr>Key Performance Indicators</vt:lpstr>
      <vt:lpstr>Interactive Dashboard Built in Microsoft Power BI | Interactive slicers by Region &amp; Segment</vt:lpstr>
      <vt:lpstr>Key Insights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Gloria Okoli</dc:creator>
  <cp:lastModifiedBy>Gloria Okoli</cp:lastModifiedBy>
  <cp:revision>4</cp:revision>
  <dcterms:created xsi:type="dcterms:W3CDTF">2026-06-29T00:40:18Z</dcterms:created>
  <dcterms:modified xsi:type="dcterms:W3CDTF">2026-06-29T00:48:03Z</dcterms:modified>
</cp:coreProperties>
</file>